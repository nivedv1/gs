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33" d="100"/>
          <a:sy n="33" d="100"/>
        </p:scale>
        <p:origin x="1948"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DD1A-CA8E-2833-A23E-D5AED8FAED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390E81-B40B-8DC4-EA50-FD18D1A844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1548939-D8EA-FD8E-1996-7011E3F5113A}"/>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DBE7E97B-0029-3845-ED7F-4B77E5E26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B0B48-160A-D625-6C6D-31E1EA0CACCA}"/>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1809427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17DFE-AB2E-E8C3-C83B-991B2FD44F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E6B5C4-0EA2-80E1-198C-D1E14154FE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3DFB7-8981-41A5-0393-02843546374A}"/>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F0E1D5AA-D349-2A3B-BBB1-C1DD036B8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25F44C-3F40-1E52-D191-30DAE7638A80}"/>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176490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176F-528A-3209-A3B5-79D5726769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C5591B-10D0-6552-AADE-B019819737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D3CC3-B591-1A9D-277A-EAA08C27F199}"/>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7E2E3E27-1CB7-88FD-6823-F559B6C94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CD12B-C477-B712-CE84-4F281AA1CAB6}"/>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420985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8410-6F90-6570-358E-B35A53F6A6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ECD9D-DA17-6C7D-94B1-E331FC5DCE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18161B-670D-31D3-9C2A-5B1CB3AA5A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51BF23-C1EB-6B2E-F666-2E5F5243E6DE}"/>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6" name="Footer Placeholder 5">
            <a:extLst>
              <a:ext uri="{FF2B5EF4-FFF2-40B4-BE49-F238E27FC236}">
                <a16:creationId xmlns:a16="http://schemas.microsoft.com/office/drawing/2014/main" id="{67DBAEAF-E675-610E-D639-D41EB043C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718F9-0E1A-5137-28D0-F5B604F0661E}"/>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3929411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A3CC-5A23-CEA7-9A00-FCA92FF006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228F9C-A1FD-989B-5588-0F45F109A4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62E1EA-D1E7-EA2F-35C8-27AD239700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38E272-DC15-E924-F16E-45FC4C5AA7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6E3AB0-5527-BD00-984A-CC33866B1B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7A2995-3102-581D-9CC6-A7AB35909453}"/>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8" name="Footer Placeholder 7">
            <a:extLst>
              <a:ext uri="{FF2B5EF4-FFF2-40B4-BE49-F238E27FC236}">
                <a16:creationId xmlns:a16="http://schemas.microsoft.com/office/drawing/2014/main" id="{9CFA6986-BFAC-929A-2A4B-42CA1C7DD4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6BAE14-CEF2-3FC8-35F9-999158664D2F}"/>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1239174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47D9-404F-7A44-4D07-F796B66CB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A5D72F-08D6-2F8A-099B-5A5AEB393FA6}"/>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4" name="Footer Placeholder 3">
            <a:extLst>
              <a:ext uri="{FF2B5EF4-FFF2-40B4-BE49-F238E27FC236}">
                <a16:creationId xmlns:a16="http://schemas.microsoft.com/office/drawing/2014/main" id="{B0E0B667-0543-DCBD-E89C-0C07ECD570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701405-3CFA-2526-4516-6922CF92A80B}"/>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41833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1BC36-490F-577B-EF33-5595C46F9694}"/>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3" name="Footer Placeholder 2">
            <a:extLst>
              <a:ext uri="{FF2B5EF4-FFF2-40B4-BE49-F238E27FC236}">
                <a16:creationId xmlns:a16="http://schemas.microsoft.com/office/drawing/2014/main" id="{7A1AB046-7586-35BD-E6F2-70FAC0554C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4493CB-CE4C-DB95-14C3-33D87B6C448C}"/>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1044025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EB8D8-0EBB-D984-9949-6F4DCAB3B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7781D2-C2E4-A0A9-99EF-48343ED23E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D44658-8E43-6B87-F2A2-81B90831F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DF109-5C7D-CA33-1A62-1A759AD0671E}"/>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6" name="Footer Placeholder 5">
            <a:extLst>
              <a:ext uri="{FF2B5EF4-FFF2-40B4-BE49-F238E27FC236}">
                <a16:creationId xmlns:a16="http://schemas.microsoft.com/office/drawing/2014/main" id="{32F42280-4C0D-682D-F275-E5A500487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CE5978-7099-8786-933D-B37D6FB0365F}"/>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3929605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ADD4-F641-4FB9-AE36-0E92595DBC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A4D45E-7E53-0084-C80C-F1015ABF4E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B30CB4-8D11-BE49-97C9-C8FCAD57B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7AA0C4-03C7-E325-481E-FFEA9366B9B4}"/>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6" name="Footer Placeholder 5">
            <a:extLst>
              <a:ext uri="{FF2B5EF4-FFF2-40B4-BE49-F238E27FC236}">
                <a16:creationId xmlns:a16="http://schemas.microsoft.com/office/drawing/2014/main" id="{33570BCE-6B89-F134-1BC7-F40F5A9125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9B86F1-F6B5-6A2E-92AD-241ACF05C458}"/>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1685033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90F3E-F172-7CAE-C86D-86CDB678A3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C27E3D-A20E-4B11-B405-DF0462E45C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31E56-C3A5-1FFB-A7DC-47BAC2448DB3}"/>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F981B616-B782-5743-85AB-98F5A9003D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951E2-6222-6F07-35B2-F3CD23CB5FD6}"/>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4287227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F025F5-2E87-85C5-9BC8-51103A3F7A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99B9B-7690-C5B8-5754-59C7B8FE0A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AFB309-7942-A401-07CE-843CF85733B3}"/>
              </a:ext>
            </a:extLst>
          </p:cNvPr>
          <p:cNvSpPr>
            <a:spLocks noGrp="1"/>
          </p:cNvSpPr>
          <p:nvPr>
            <p:ph type="dt" sz="half" idx="10"/>
          </p:nvPr>
        </p:nvSpPr>
        <p:spPr/>
        <p:txBody>
          <a:body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AEC8D737-FBC4-27C9-CF0F-0F2F72CD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5558AA-DE77-F11F-AC51-2EF60B76544E}"/>
              </a:ext>
            </a:extLst>
          </p:cNvPr>
          <p:cNvSpPr>
            <a:spLocks noGrp="1"/>
          </p:cNvSpPr>
          <p:nvPr>
            <p:ph type="sldNum" sz="quarter" idx="12"/>
          </p:nvPr>
        </p:nvSpPr>
        <p:spPr/>
        <p:txBody>
          <a:bodyPr/>
          <a:lstStyle/>
          <a:p>
            <a:fld id="{482E35B5-8E9C-4C2B-AE74-4F5801F074AE}" type="slidenum">
              <a:rPr lang="en-US" smtClean="0"/>
              <a:t>‹#›</a:t>
            </a:fld>
            <a:endParaRPr lang="en-US"/>
          </a:p>
        </p:txBody>
      </p:sp>
    </p:spTree>
    <p:extLst>
      <p:ext uri="{BB962C8B-B14F-4D97-AF65-F5344CB8AC3E}">
        <p14:creationId xmlns:p14="http://schemas.microsoft.com/office/powerpoint/2010/main" val="2499544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93BCAF-D7D4-5691-CB6B-EDB1CA05E5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345814-43F2-FF19-C38B-BEA63AB8AA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BF154F-92E8-003A-567F-8CFF95DFC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3F1A18-5C4E-4B0F-8B75-D3220C76A0E7}" type="datetimeFigureOut">
              <a:rPr lang="en-US" smtClean="0"/>
              <a:t>1/19/2026</a:t>
            </a:fld>
            <a:endParaRPr lang="en-US"/>
          </a:p>
        </p:txBody>
      </p:sp>
      <p:sp>
        <p:nvSpPr>
          <p:cNvPr id="5" name="Footer Placeholder 4">
            <a:extLst>
              <a:ext uri="{FF2B5EF4-FFF2-40B4-BE49-F238E27FC236}">
                <a16:creationId xmlns:a16="http://schemas.microsoft.com/office/drawing/2014/main" id="{FEC87B56-C1D4-7C03-C074-2D91159FD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2269D6-081C-8175-4B96-4F49417288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2E35B5-8E9C-4C2B-AE74-4F5801F074AE}" type="slidenum">
              <a:rPr lang="en-US" smtClean="0"/>
              <a:t>‹#›</a:t>
            </a:fld>
            <a:endParaRPr lang="en-US"/>
          </a:p>
        </p:txBody>
      </p:sp>
    </p:spTree>
    <p:extLst>
      <p:ext uri="{BB962C8B-B14F-4D97-AF65-F5344CB8AC3E}">
        <p14:creationId xmlns:p14="http://schemas.microsoft.com/office/powerpoint/2010/main" val="2855733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6536-AC2C-24B9-9423-EE66F0FB09A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42C1363-7250-C5FF-54A1-DA00CF1A579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6245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7867-B3E1-0E5D-E5E1-7D6414AAC916}"/>
              </a:ext>
            </a:extLst>
          </p:cNvPr>
          <p:cNvSpPr>
            <a:spLocks noGrp="1"/>
          </p:cNvSpPr>
          <p:nvPr>
            <p:ph type="title"/>
          </p:nvPr>
        </p:nvSpPr>
        <p:spPr/>
        <p:txBody>
          <a:bodyPr/>
          <a:lstStyle/>
          <a:p>
            <a:r>
              <a:rPr lang="en-GB" dirty="0"/>
              <a:t>What is Phase </a:t>
            </a:r>
            <a:r>
              <a:rPr lang="en-US" dirty="0"/>
              <a:t>retrieval</a:t>
            </a:r>
          </a:p>
        </p:txBody>
      </p:sp>
      <p:sp>
        <p:nvSpPr>
          <p:cNvPr id="3" name="Content Placeholder 2">
            <a:extLst>
              <a:ext uri="{FF2B5EF4-FFF2-40B4-BE49-F238E27FC236}">
                <a16:creationId xmlns:a16="http://schemas.microsoft.com/office/drawing/2014/main" id="{8C5908BA-1951-64C4-F544-673F832D60EF}"/>
              </a:ext>
            </a:extLst>
          </p:cNvPr>
          <p:cNvSpPr>
            <a:spLocks noGrp="1"/>
          </p:cNvSpPr>
          <p:nvPr>
            <p:ph idx="1"/>
          </p:nvPr>
        </p:nvSpPr>
        <p:spPr/>
        <p:txBody>
          <a:bodyPr/>
          <a:lstStyle/>
          <a:p>
            <a:r>
              <a:rPr lang="en-GB" dirty="0"/>
              <a:t>In many optical experiments we cannot directly measure phase only we can measure amplitude or intensity</a:t>
            </a:r>
          </a:p>
          <a:p>
            <a:r>
              <a:rPr lang="en-GB" dirty="0"/>
              <a:t>Phase retrieval consists of finding the phase that satisfies a set of constraints for a measured amplitude</a:t>
            </a:r>
            <a:endParaRPr lang="en-US" dirty="0"/>
          </a:p>
        </p:txBody>
      </p:sp>
    </p:spTree>
    <p:extLst>
      <p:ext uri="{BB962C8B-B14F-4D97-AF65-F5344CB8AC3E}">
        <p14:creationId xmlns:p14="http://schemas.microsoft.com/office/powerpoint/2010/main" val="1400188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B6052-AF9A-D45F-06C6-1D6B2F10DD6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900E700-FD6B-B34A-DAFA-232A6DC42E7F}"/>
              </a:ext>
            </a:extLst>
          </p:cNvPr>
          <p:cNvSpPr>
            <a:spLocks noGrp="1"/>
          </p:cNvSpPr>
          <p:nvPr>
            <p:ph idx="1"/>
          </p:nvPr>
        </p:nvSpPr>
        <p:spPr/>
        <p:txBody>
          <a:bodyPr/>
          <a:lstStyle/>
          <a:p>
            <a:r>
              <a:rPr lang="en-GB" dirty="0"/>
              <a:t>In Holographic optical tweezers we use Spatial light modulator to control the phase of a light beam to create traps</a:t>
            </a:r>
          </a:p>
          <a:p>
            <a:r>
              <a:rPr lang="en-GB" dirty="0"/>
              <a:t>The problem we have is  </a:t>
            </a:r>
            <a:r>
              <a:rPr lang="en-GB" b="1" dirty="0"/>
              <a:t>What phase pattern on the SLM produces the desired trap intensities in the focal plane?</a:t>
            </a:r>
          </a:p>
          <a:p>
            <a:endParaRPr lang="en-GB" b="1" dirty="0"/>
          </a:p>
          <a:p>
            <a:r>
              <a:rPr lang="en-GB" dirty="0"/>
              <a:t>We solve this algorithmically using phase retrieval algorithms</a:t>
            </a:r>
          </a:p>
          <a:p>
            <a:r>
              <a:rPr lang="en-GB" dirty="0"/>
              <a:t>Many different phases can give the same intensity pattern </a:t>
            </a:r>
          </a:p>
          <a:p>
            <a:r>
              <a:rPr lang="en-GB" dirty="0"/>
              <a:t>Phase retrieval algorithms only</a:t>
            </a:r>
          </a:p>
        </p:txBody>
      </p:sp>
    </p:spTree>
    <p:extLst>
      <p:ext uri="{BB962C8B-B14F-4D97-AF65-F5344CB8AC3E}">
        <p14:creationId xmlns:p14="http://schemas.microsoft.com/office/powerpoint/2010/main" val="3289264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D7E2-D81A-A94F-359B-95228088C9E9}"/>
              </a:ext>
            </a:extLst>
          </p:cNvPr>
          <p:cNvSpPr>
            <a:spLocks noGrp="1"/>
          </p:cNvSpPr>
          <p:nvPr>
            <p:ph type="title"/>
          </p:nvPr>
        </p:nvSpPr>
        <p:spPr/>
        <p:txBody>
          <a:bodyPr/>
          <a:lstStyle/>
          <a:p>
            <a:r>
              <a:rPr lang="en-GB" dirty="0"/>
              <a:t>Different phase retrieval algorithms</a:t>
            </a:r>
            <a:endParaRPr lang="en-US" dirty="0"/>
          </a:p>
        </p:txBody>
      </p:sp>
      <p:sp>
        <p:nvSpPr>
          <p:cNvPr id="3" name="Content Placeholder 2">
            <a:extLst>
              <a:ext uri="{FF2B5EF4-FFF2-40B4-BE49-F238E27FC236}">
                <a16:creationId xmlns:a16="http://schemas.microsoft.com/office/drawing/2014/main" id="{E1042691-A090-643B-C9F3-B16469AE7BB4}"/>
              </a:ext>
            </a:extLst>
          </p:cNvPr>
          <p:cNvSpPr>
            <a:spLocks noGrp="1"/>
          </p:cNvSpPr>
          <p:nvPr>
            <p:ph idx="1"/>
          </p:nvPr>
        </p:nvSpPr>
        <p:spPr/>
        <p:txBody>
          <a:bodyPr/>
          <a:lstStyle/>
          <a:p>
            <a:pPr>
              <a:buFont typeface="Wingdings" panose="05000000000000000000" pitchFamily="2" charset="2"/>
              <a:buChar char="v"/>
            </a:pPr>
            <a:r>
              <a:rPr lang="en-US" b="1" dirty="0" err="1"/>
              <a:t>Gerchberg</a:t>
            </a:r>
            <a:r>
              <a:rPr lang="en-US" b="1" dirty="0"/>
              <a:t>–Saxton Algorithm</a:t>
            </a:r>
          </a:p>
          <a:p>
            <a:pPr>
              <a:buFont typeface="Wingdings" panose="05000000000000000000" pitchFamily="2" charset="2"/>
              <a:buChar char="v"/>
            </a:pPr>
            <a:r>
              <a:rPr lang="en-US" b="1" dirty="0"/>
              <a:t>Weighted </a:t>
            </a:r>
            <a:r>
              <a:rPr lang="en-US" b="1" dirty="0" err="1"/>
              <a:t>Gerchberg</a:t>
            </a:r>
            <a:r>
              <a:rPr lang="en-US" b="1" dirty="0"/>
              <a:t>–Saxton</a:t>
            </a:r>
          </a:p>
          <a:p>
            <a:pPr>
              <a:buFont typeface="Wingdings" panose="05000000000000000000" pitchFamily="2" charset="2"/>
              <a:buChar char="v"/>
            </a:pPr>
            <a:r>
              <a:rPr lang="en-US" b="1" dirty="0"/>
              <a:t>MRAF — Mixed-Region Amplitude Freedom</a:t>
            </a:r>
          </a:p>
          <a:p>
            <a:pPr>
              <a:buFont typeface="Wingdings" panose="05000000000000000000" pitchFamily="2" charset="2"/>
              <a:buChar char="v"/>
            </a:pPr>
            <a:r>
              <a:rPr lang="en-US" b="1" dirty="0"/>
              <a:t>DBS — Direct Binary Search</a:t>
            </a:r>
            <a:endParaRPr lang="en-GB" b="1" dirty="0"/>
          </a:p>
          <a:p>
            <a:pPr>
              <a:buFont typeface="Wingdings" panose="05000000000000000000" pitchFamily="2" charset="2"/>
              <a:buChar char="v"/>
            </a:pPr>
            <a:endParaRPr lang="en-US" dirty="0"/>
          </a:p>
          <a:p>
            <a:pPr>
              <a:buFont typeface="Wingdings" panose="05000000000000000000" pitchFamily="2" charset="2"/>
              <a:buChar char="v"/>
            </a:pPr>
            <a:endParaRPr lang="en-US" dirty="0"/>
          </a:p>
          <a:p>
            <a:pPr>
              <a:buFont typeface="Wingdings" panose="05000000000000000000" pitchFamily="2" charset="2"/>
              <a:buChar char="v"/>
            </a:pPr>
            <a:endParaRPr lang="en-US" dirty="0"/>
          </a:p>
          <a:p>
            <a:pPr>
              <a:buFont typeface="Wingdings" panose="05000000000000000000" pitchFamily="2" charset="2"/>
              <a:buChar char="v"/>
            </a:pPr>
            <a:endParaRPr lang="en-US" dirty="0"/>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464225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E9CD-112A-5CE2-9500-E4DECFAE897C}"/>
              </a:ext>
            </a:extLst>
          </p:cNvPr>
          <p:cNvSpPr>
            <a:spLocks noGrp="1"/>
          </p:cNvSpPr>
          <p:nvPr>
            <p:ph type="title"/>
          </p:nvPr>
        </p:nvSpPr>
        <p:spPr/>
        <p:txBody>
          <a:bodyPr/>
          <a:lstStyle/>
          <a:p>
            <a:r>
              <a:rPr lang="en-US" dirty="0" err="1"/>
              <a:t>Gerchberg</a:t>
            </a:r>
            <a:r>
              <a:rPr lang="en-US" dirty="0"/>
              <a:t>–Saxton Algorithm</a:t>
            </a:r>
          </a:p>
        </p:txBody>
      </p:sp>
      <p:sp>
        <p:nvSpPr>
          <p:cNvPr id="3" name="Content Placeholder 2">
            <a:extLst>
              <a:ext uri="{FF2B5EF4-FFF2-40B4-BE49-F238E27FC236}">
                <a16:creationId xmlns:a16="http://schemas.microsoft.com/office/drawing/2014/main" id="{9805A240-9D5D-26FA-A7E7-C5FCE49AB099}"/>
              </a:ext>
            </a:extLst>
          </p:cNvPr>
          <p:cNvSpPr>
            <a:spLocks noGrp="1"/>
          </p:cNvSpPr>
          <p:nvPr>
            <p:ph idx="1"/>
          </p:nvPr>
        </p:nvSpPr>
        <p:spPr/>
        <p:txBody>
          <a:bodyPr/>
          <a:lstStyle/>
          <a:p>
            <a:r>
              <a:rPr lang="en-GB" dirty="0"/>
              <a:t>The G-S algorithm is an iterative phase retrieval algorithm that works by repeatedly transforming back and forth between two planes (typically the SLM plane and the focal plane) and applying known constraints in each domain. The key steps involve: </a:t>
            </a:r>
          </a:p>
          <a:p>
            <a:endParaRPr lang="en-GB" dirty="0"/>
          </a:p>
          <a:p>
            <a:endParaRPr lang="en-GB" dirty="0"/>
          </a:p>
          <a:p>
            <a:endParaRPr lang="en-US" dirty="0"/>
          </a:p>
        </p:txBody>
      </p:sp>
    </p:spTree>
    <p:extLst>
      <p:ext uri="{BB962C8B-B14F-4D97-AF65-F5344CB8AC3E}">
        <p14:creationId xmlns:p14="http://schemas.microsoft.com/office/powerpoint/2010/main" val="3136762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F3D21-F0C4-3230-E070-6FD6BE36BDA8}"/>
              </a:ext>
            </a:extLst>
          </p:cNvPr>
          <p:cNvSpPr>
            <a:spLocks noGrp="1"/>
          </p:cNvSpPr>
          <p:nvPr>
            <p:ph idx="1"/>
          </p:nvPr>
        </p:nvSpPr>
        <p:spPr>
          <a:xfrm>
            <a:off x="838200" y="446314"/>
            <a:ext cx="10515600" cy="5730649"/>
          </a:xfrm>
        </p:spPr>
        <p:txBody>
          <a:bodyPr>
            <a:normAutofit lnSpcReduction="10000"/>
          </a:bodyPr>
          <a:lstStyle/>
          <a:p>
            <a:r>
              <a:rPr lang="en-GB" b="1" dirty="0"/>
              <a:t>Initial Guess</a:t>
            </a:r>
            <a:r>
              <a:rPr lang="en-GB" dirty="0"/>
              <a:t>: Start with an initial phase guess (often a random or constant phase) in the input plane (SLM plane) and the known input amplitude.</a:t>
            </a:r>
          </a:p>
          <a:p>
            <a:endParaRPr lang="en-GB" dirty="0"/>
          </a:p>
          <a:p>
            <a:r>
              <a:rPr lang="en-GB" dirty="0"/>
              <a:t>Propagate the complex field (amplitude and phase) from the input plane to the target (focal) plane using a Fourier transform</a:t>
            </a:r>
          </a:p>
          <a:p>
            <a:endParaRPr lang="en-GB" dirty="0"/>
          </a:p>
          <a:p>
            <a:r>
              <a:rPr lang="en-GB" dirty="0"/>
              <a:t>In the target plane, the calculated amplitude is replaced by the desired target amplitude profile (e.g., an array of bright spots for the traps), while the phase is kept unchanged</a:t>
            </a:r>
          </a:p>
          <a:p>
            <a:r>
              <a:rPr lang="en-GB" dirty="0"/>
              <a:t>In the input plane, the calculated amplitude is replaced by the known input amplitude (often assumed to be constant across the SLM), while the phase is kept unchanged. This extracted phase is the hologram.</a:t>
            </a:r>
            <a:endParaRPr lang="en-US" dirty="0"/>
          </a:p>
        </p:txBody>
      </p:sp>
    </p:spTree>
    <p:extLst>
      <p:ext uri="{BB962C8B-B14F-4D97-AF65-F5344CB8AC3E}">
        <p14:creationId xmlns:p14="http://schemas.microsoft.com/office/powerpoint/2010/main" val="2834774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47F64-808B-A882-DF9F-354D27109A89}"/>
              </a:ext>
            </a:extLst>
          </p:cNvPr>
          <p:cNvSpPr>
            <a:spLocks noGrp="1"/>
          </p:cNvSpPr>
          <p:nvPr>
            <p:ph type="title"/>
          </p:nvPr>
        </p:nvSpPr>
        <p:spPr>
          <a:xfrm>
            <a:off x="838200" y="-184719"/>
            <a:ext cx="10515600" cy="1325563"/>
          </a:xfrm>
        </p:spPr>
        <p:txBody>
          <a:bodyPr/>
          <a:lstStyle/>
          <a:p>
            <a:r>
              <a:rPr lang="en-GB" dirty="0"/>
              <a:t>1D GS algorithm </a:t>
            </a:r>
            <a:r>
              <a:rPr lang="en-GB" dirty="0" err="1"/>
              <a:t>convergance</a:t>
            </a:r>
            <a:endParaRPr lang="en-US" dirty="0"/>
          </a:p>
        </p:txBody>
      </p:sp>
      <p:pic>
        <p:nvPicPr>
          <p:cNvPr id="19" name="Content Placeholder 18">
            <a:extLst>
              <a:ext uri="{FF2B5EF4-FFF2-40B4-BE49-F238E27FC236}">
                <a16:creationId xmlns:a16="http://schemas.microsoft.com/office/drawing/2014/main" id="{EAEED66A-180E-C090-3D0C-9CF6BA38B95D}"/>
              </a:ext>
            </a:extLst>
          </p:cNvPr>
          <p:cNvPicPr>
            <a:picLocks noGrp="1" noChangeAspect="1"/>
          </p:cNvPicPr>
          <p:nvPr>
            <p:ph idx="1"/>
          </p:nvPr>
        </p:nvPicPr>
        <p:blipFill>
          <a:blip r:embed="rId4"/>
          <a:stretch>
            <a:fillRect/>
          </a:stretch>
        </p:blipFill>
        <p:spPr>
          <a:xfrm>
            <a:off x="0" y="1638300"/>
            <a:ext cx="5735901" cy="3336471"/>
          </a:xfrm>
          <a:prstGeom prst="rect">
            <a:avLst/>
          </a:prstGeom>
        </p:spPr>
      </p:pic>
      <p:pic>
        <p:nvPicPr>
          <p:cNvPr id="20" name="gs_convergence">
            <a:hlinkClick r:id="" action="ppaction://media"/>
            <a:extLst>
              <a:ext uri="{FF2B5EF4-FFF2-40B4-BE49-F238E27FC236}">
                <a16:creationId xmlns:a16="http://schemas.microsoft.com/office/drawing/2014/main" id="{6B6A5AD7-CBB1-966A-B69E-5C7AF4FE2C2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735901" y="1401535"/>
            <a:ext cx="7424057" cy="3810000"/>
          </a:xfrm>
          <a:prstGeom prst="rect">
            <a:avLst/>
          </a:prstGeom>
        </p:spPr>
      </p:pic>
    </p:spTree>
    <p:extLst>
      <p:ext uri="{BB962C8B-B14F-4D97-AF65-F5344CB8AC3E}">
        <p14:creationId xmlns:p14="http://schemas.microsoft.com/office/powerpoint/2010/main" val="48575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3B1CB-3DD2-0005-52C4-A9BB7FD146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25B870-AA36-13AD-BF31-DA50E6BB7F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34973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D1A8E034-997D-1332-2DA4-FE79F89589B6}"/>
              </a:ext>
            </a:extLst>
          </p:cNvPr>
          <p:cNvSpPr>
            <a:spLocks noGrp="1"/>
          </p:cNvSpPr>
          <p:nvPr>
            <p:ph idx="1"/>
          </p:nvPr>
        </p:nvSpPr>
        <p:spPr>
          <a:xfrm>
            <a:off x="902240" y="1167318"/>
            <a:ext cx="10387520" cy="4211975"/>
          </a:xfrm>
        </p:spPr>
        <p:txBody>
          <a:bodyPr/>
          <a:lstStyle/>
          <a:p>
            <a:endParaRPr lang="en-US" dirty="0"/>
          </a:p>
        </p:txBody>
      </p:sp>
    </p:spTree>
    <p:extLst>
      <p:ext uri="{BB962C8B-B14F-4D97-AF65-F5344CB8AC3E}">
        <p14:creationId xmlns:p14="http://schemas.microsoft.com/office/powerpoint/2010/main" val="3132815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302</Words>
  <Application>Microsoft Office PowerPoint</Application>
  <PresentationFormat>Widescreen</PresentationFormat>
  <Paragraphs>27</Paragraphs>
  <Slides>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PowerPoint Presentation</vt:lpstr>
      <vt:lpstr>What is Phase retrieval</vt:lpstr>
      <vt:lpstr>PowerPoint Presentation</vt:lpstr>
      <vt:lpstr>Different phase retrieval algorithms</vt:lpstr>
      <vt:lpstr>Gerchberg–Saxton Algorithm</vt:lpstr>
      <vt:lpstr>PowerPoint Presentation</vt:lpstr>
      <vt:lpstr>1D GS algorithm convergance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NIVED CHANDRAN</dc:creator>
  <cp:lastModifiedBy>NIVED CHANDRAN</cp:lastModifiedBy>
  <cp:revision>2</cp:revision>
  <dcterms:created xsi:type="dcterms:W3CDTF">2026-01-19T11:24:01Z</dcterms:created>
  <dcterms:modified xsi:type="dcterms:W3CDTF">2026-01-19T13:38:59Z</dcterms:modified>
</cp:coreProperties>
</file>